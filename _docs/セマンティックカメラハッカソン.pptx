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3739BD-ECA9-4BF6-B48A-935E408BED22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87D31-2DB0-4ADC-9624-5DCB2C90DC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116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87D31-2DB0-4ADC-9624-5DCB2C90DC0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6906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8570AB-32F1-D202-ED24-F1EE2F032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858AB0D-322E-67FC-75B3-6AA1B9191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161D3C-7BD5-BE37-9DCE-3605781D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8949A-7CF9-40C1-82FB-201F436B11C8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C27AB2-5790-7221-6BA4-3B2A57914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885F21-BB48-6BE1-53B6-E4B2F3FC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3046-599C-4098-9AE8-C67506194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458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C48A3C-9904-7ACD-11B6-3EB01A5CB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06FA37-7400-D34E-115A-3462F9E31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E5961D-A9EB-FD4B-00FF-2FDD9E9FA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8949A-7CF9-40C1-82FB-201F436B11C8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361224-DDC2-989B-B08F-BD3062EA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834F3D-BCEE-B5B6-F2EE-2DD547F6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3046-599C-4098-9AE8-C67506194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3624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2DF501-58CB-76DD-D194-E9464E043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B266AD-C744-6C40-4CD5-CC00547A1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E642DC-DAAD-2367-FF78-D057D6E7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8949A-7CF9-40C1-82FB-201F436B11C8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A7679C-5293-C3C6-3A07-37656B237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477A8F-CD0B-6DA0-5D9F-AD8206497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3046-599C-4098-9AE8-C67506194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791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F264C0-6EF9-D456-2535-E38249C1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B14BF6-D0CA-BB54-0E40-A3DC59AA8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0F6F1F-DE3F-B023-E0D2-878D65EA9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D852F6-1F5F-4A01-B983-1E183A5F7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8949A-7CF9-40C1-82FB-201F436B11C8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50EE1A-D38F-5F63-86B2-B4217E67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EDAC1B-9D3E-0F16-0A7D-D313BDA9E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3046-599C-4098-9AE8-C67506194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65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F05D3E-2429-64F4-77D8-BD171FAC3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53C3BD-25EF-593C-B2AA-8A6CB890A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DD5A0E7-D6C6-AE8F-31F4-DFC99AFEB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FBAEF47-4A9E-9124-BE68-9F42B1D0B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54B6862-292F-B284-3F89-E5F01D384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D3276DB-E383-34A4-8D9E-C43999E57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8949A-7CF9-40C1-82FB-201F436B11C8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318CC60-C838-9559-9C6E-81BB60D7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FCA11E8-5EC3-9C74-4892-A566A4BB3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3046-599C-4098-9AE8-C67506194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609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3D8A59-0D09-00B7-78DD-C330D337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55F485D-0ACC-91EB-7F17-0BD1F8EC3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8949A-7CF9-40C1-82FB-201F436B11C8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1641AE-7926-B555-E1BE-10455383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117A148-8DB4-FD46-11C5-E5F9DDFB8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3046-599C-4098-9AE8-C67506194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8225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1FD8D26-EBE6-0917-309D-BA08A1BC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8949A-7CF9-40C1-82FB-201F436B11C8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12B4614-F91F-23AB-F8B7-A9C7308C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10B28-1638-3350-CFBA-92743BBD4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3046-599C-4098-9AE8-C67506194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3622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0F342E-D21C-F353-7371-2D6F4693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E5CF52-2B6D-99E4-52C5-7E6A4D9D1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E8F9F93-9511-6080-1D86-DF0211BD0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47D4EB-EF9E-3A0E-6AEC-1968F988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8949A-7CF9-40C1-82FB-201F436B11C8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6CE18D-D394-FF03-9E3D-4377DC84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71D395-BD36-1B20-3BEF-532802383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3046-599C-4098-9AE8-C67506194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9549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5F48A9-27BF-FF0A-D802-BD6C98880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B88ECA1-0EB7-C850-A496-FDCA9273C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3603CD-7797-6EEC-75EB-366DCCDAF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648AEF-B615-6B31-DADA-8A6390F20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8949A-7CF9-40C1-82FB-201F436B11C8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F465D4-0E47-79FF-860B-F9E2B016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2FFB42-0481-5667-4BB0-0404BF68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3046-599C-4098-9AE8-C67506194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8236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C3416E-4CE7-E741-E702-42547A3A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A78856-163E-89EE-F9E6-30556D3A7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63EC50-C89F-D47A-5371-1041B211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8949A-7CF9-40C1-82FB-201F436B11C8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5DBA77-DCF4-9F31-71E6-CB84A2470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E39076-7B7F-5D9D-BF65-D97E8ED3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3046-599C-4098-9AE8-C67506194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24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5F13F6-F8EB-1141-2A21-FDF8D11A51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3254822-623E-7924-23C1-F33607785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FEA52E-CFB1-BA66-0DE4-752E68E41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8949A-7CF9-40C1-82FB-201F436B11C8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06AEE0-7ACA-53C8-A42F-2EB99B954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64CBAC-33CF-8EF1-5172-1F4B5B6A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3046-599C-4098-9AE8-C67506194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517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07FEFB0-BE8D-30E7-7573-B71E2B430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12729C-158D-9F18-B94B-6B9D10B05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A62C40-02A4-11B1-359E-CA4BFE532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8949A-7CF9-40C1-82FB-201F436B11C8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2D4EDF-4EDA-3D23-9D84-73CD57481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471297-5F3E-22D3-0481-C9A87ABE0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C3046-599C-4098-9AE8-C675061946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930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463064-A168-96E5-BFAC-67F228F0F6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44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セマンティックカメラによる</a:t>
            </a:r>
            <a:br>
              <a:rPr lang="en-US" altLang="ja-JP" sz="44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</a:br>
            <a:r>
              <a:rPr lang="ja-JP" altLang="en-US" sz="44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フードコート空席可視化システム</a:t>
            </a:r>
            <a:endParaRPr kumimoji="1" lang="ja-JP" altLang="en-US" sz="44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15A9AB2-016D-164A-155B-074652185E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代表者：加藤竣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7506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1626EB-F296-3D3F-F379-5DF711F0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フードコートの「混雑状況」はわかりづらい</a:t>
            </a:r>
            <a:endParaRPr kumimoji="1" lang="ja-JP" altLang="en-US" sz="4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262C58-FEAE-84EB-F99A-90EA2EA1F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6775" y="1825625"/>
            <a:ext cx="6677025" cy="402671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b="1" u="sng" dirty="0">
              <a:solidFill>
                <a:schemeClr val="accent1"/>
              </a:solidFill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r>
              <a:rPr lang="ja-JP" altLang="en-US" sz="2400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席が空いているかわからないまま料理を購入</a:t>
            </a:r>
            <a:endParaRPr lang="en-US" altLang="ja-JP" sz="2400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r>
              <a:rPr lang="ja-JP" altLang="en-US" sz="2400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トレーをもって歩き回る</a:t>
            </a:r>
            <a:endParaRPr lang="en-US" altLang="ja-JP" sz="2400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0" indent="0">
              <a:buNone/>
            </a:pPr>
            <a:endParaRPr lang="en-US" altLang="ja-JP" sz="2400" b="1" u="sng" dirty="0">
              <a:solidFill>
                <a:schemeClr val="accent1"/>
              </a:solidFill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無駄な移動と時間ロスによる「体験の低下」</a:t>
            </a:r>
            <a:endParaRPr lang="en-US" altLang="ja-JP" sz="2400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0" indent="0">
              <a:buNone/>
            </a:pPr>
            <a:endParaRPr kumimoji="1" lang="en-US" altLang="ja-JP" sz="2400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0" indent="0">
              <a:buNone/>
            </a:pPr>
            <a:endParaRPr kumimoji="1" lang="en-US" altLang="ja-JP" sz="2400" b="1" dirty="0">
              <a:solidFill>
                <a:schemeClr val="accent2"/>
              </a:solidFill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9A3FDDB-28C3-247C-D7C4-6A3CCD851B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74" r="27871"/>
          <a:stretch>
            <a:fillRect/>
          </a:stretch>
        </p:blipFill>
        <p:spPr>
          <a:xfrm>
            <a:off x="838200" y="1825625"/>
            <a:ext cx="3657600" cy="402671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9FB2C521-C3CF-DB82-BAB5-10B0EA97E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775" y="1825625"/>
            <a:ext cx="1574509" cy="45923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33EC38B2-CC74-B3BB-8762-E85303278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775" y="3569902"/>
            <a:ext cx="1574509" cy="45923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B41AE7B-0FCE-233D-8959-03DD9B1B3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775" y="5143955"/>
            <a:ext cx="6572250" cy="70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939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FC1769-CF0D-4BB2-07ED-AFF1F7DAE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「混雑状況」をリアルタイムに「見える化」</a:t>
            </a:r>
            <a:endParaRPr kumimoji="1" lang="ja-JP" altLang="en-US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CBF977-E36E-4473-4871-CF8977DF7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5649" y="2274093"/>
            <a:ext cx="3476625" cy="180895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ja-JP" altLang="en-US" dirty="0">
                <a:solidFill>
                  <a:schemeClr val="accent2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✓</a:t>
            </a:r>
            <a:r>
              <a:rPr kumimoji="1" lang="ja-JP" altLang="en-US" dirty="0">
                <a:solidFill>
                  <a:schemeClr val="accent2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 </a:t>
            </a:r>
            <a:r>
              <a:rPr kumimoji="1" lang="ja-JP" altLang="en-US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混雑度を％で表示</a:t>
            </a:r>
            <a:endParaRPr kumimoji="1" lang="en-US" altLang="ja-JP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dirty="0">
                <a:solidFill>
                  <a:schemeClr val="accent2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✓</a:t>
            </a:r>
            <a:r>
              <a:rPr lang="ja-JP" altLang="en-US" dirty="0">
                <a:solidFill>
                  <a:schemeClr val="accent2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 </a:t>
            </a:r>
            <a:r>
              <a:rPr lang="ja-JP" altLang="en-US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映像を保存しない</a:t>
            </a:r>
            <a:endParaRPr lang="en-US" altLang="ja-JP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CD090FA-7842-F5DD-D6F6-65D9D2EFB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247" y="2131218"/>
            <a:ext cx="4403315" cy="267652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1D623F1-A5F6-B246-8600-F019B84D91F8}"/>
              </a:ext>
            </a:extLst>
          </p:cNvPr>
          <p:cNvSpPr txBox="1"/>
          <p:nvPr/>
        </p:nvSpPr>
        <p:spPr>
          <a:xfrm>
            <a:off x="4508974" y="4807743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※</a:t>
            </a:r>
            <a:r>
              <a:rPr lang="ja-JP" altLang="en-US" sz="1600" dirty="0"/>
              <a:t>イメージ</a:t>
            </a:r>
            <a:endParaRPr kumimoji="1" lang="ja-JP" altLang="en-US" sz="1600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AF4AB94-6F0C-436F-2CA5-E7C62F0F909E}"/>
              </a:ext>
            </a:extLst>
          </p:cNvPr>
          <p:cNvSpPr/>
          <p:nvPr/>
        </p:nvSpPr>
        <p:spPr>
          <a:xfrm>
            <a:off x="7105650" y="4162840"/>
            <a:ext cx="3476625" cy="9834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solidFill>
                  <a:schemeClr val="tx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プライバシーも安心</a:t>
            </a:r>
            <a:endParaRPr kumimoji="1" lang="ja-JP" altLang="en-US" sz="2000" dirty="0">
              <a:solidFill>
                <a:schemeClr val="tx1"/>
              </a:solidFill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018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2C74EB-6BB0-9BE6-DB87-E3B4534F4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なぜセマンティックカメラなのか</a:t>
            </a:r>
            <a:endParaRPr kumimoji="1" lang="ja-JP" altLang="en-US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6C402B-11D6-1A62-0250-D6CC886A4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25" y="2219324"/>
            <a:ext cx="7377109" cy="20859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人の顔</a:t>
            </a:r>
            <a:r>
              <a:rPr kumimoji="1"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や</a:t>
            </a:r>
            <a:r>
              <a:rPr kumimoji="1" lang="ja-JP" altLang="en-US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映像そのもの</a:t>
            </a:r>
            <a:r>
              <a:rPr kumimoji="1"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を扱わない</a:t>
            </a:r>
            <a:endParaRPr kumimoji="1" lang="en-US" altLang="ja-JP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>
              <a:lnSpc>
                <a:spcPct val="200000"/>
              </a:lnSpc>
            </a:pPr>
            <a:r>
              <a:rPr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抽出した「</a:t>
            </a:r>
            <a:r>
              <a:rPr lang="ja-JP" altLang="en-US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意味情報</a:t>
            </a:r>
            <a:r>
              <a:rPr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」のみを利用する</a:t>
            </a:r>
            <a:endParaRPr lang="en-US" altLang="ja-JP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E892518-5D53-D95D-FD80-0CA2649A3747}"/>
              </a:ext>
            </a:extLst>
          </p:cNvPr>
          <p:cNvSpPr/>
          <p:nvPr/>
        </p:nvSpPr>
        <p:spPr>
          <a:xfrm>
            <a:off x="2047875" y="4462462"/>
            <a:ext cx="3533775" cy="14097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プライバシーに配慮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1728BFA-1E01-75C3-F4B4-9F860ED29791}"/>
              </a:ext>
            </a:extLst>
          </p:cNvPr>
          <p:cNvSpPr/>
          <p:nvPr/>
        </p:nvSpPr>
        <p:spPr>
          <a:xfrm>
            <a:off x="5891209" y="4462462"/>
            <a:ext cx="3533775" cy="14097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データ量が少なく</a:t>
            </a:r>
            <a:endParaRPr lang="en-US" altLang="ja-JP" dirty="0">
              <a:solidFill>
                <a:schemeClr val="tx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リアルタイム向き</a:t>
            </a:r>
          </a:p>
        </p:txBody>
      </p:sp>
    </p:spTree>
    <p:extLst>
      <p:ext uri="{BB962C8B-B14F-4D97-AF65-F5344CB8AC3E}">
        <p14:creationId xmlns:p14="http://schemas.microsoft.com/office/powerpoint/2010/main" val="2799361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2435F9-7E02-0337-C374-2D562430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システム全体構成</a:t>
            </a:r>
            <a:endParaRPr kumimoji="1" lang="ja-JP" altLang="en-US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6A6799-D4B0-B5AD-28AC-58FA43EAB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759" y="1690687"/>
            <a:ext cx="5257800" cy="3893261"/>
          </a:xfrm>
        </p:spPr>
        <p:txBody>
          <a:bodyPr>
            <a:normAutofit/>
          </a:bodyPr>
          <a:lstStyle/>
          <a:p>
            <a:pPr marL="514350" indent="-514350">
              <a:lnSpc>
                <a:spcPct val="200000"/>
              </a:lnSpc>
              <a:buAutoNum type="arabicPeriod"/>
            </a:pPr>
            <a:r>
              <a:rPr kumimoji="1" lang="ja-JP" altLang="en-US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カメラが定期的に画像送信</a:t>
            </a:r>
            <a:endParaRPr kumimoji="1" lang="en-US" altLang="ja-JP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ja-JP" altLang="en-US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サーバで画像解析</a:t>
            </a:r>
            <a:endParaRPr lang="en-US" altLang="ja-JP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ja-JP" altLang="en-US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混雑状況</a:t>
            </a:r>
            <a:r>
              <a:rPr kumimoji="1" lang="ja-JP" altLang="en-US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を</a:t>
            </a:r>
            <a:r>
              <a:rPr kumimoji="1" lang="en-US" altLang="ja-JP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JSON</a:t>
            </a:r>
            <a:r>
              <a:rPr kumimoji="1" lang="ja-JP" altLang="en-US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化</a:t>
            </a:r>
            <a:endParaRPr lang="en-US" altLang="ja-JP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kumimoji="1" lang="en-US" altLang="ja-JP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API</a:t>
            </a:r>
            <a:r>
              <a:rPr kumimoji="1" lang="ja-JP" altLang="en-US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経由で</a:t>
            </a:r>
            <a:r>
              <a:rPr kumimoji="1" lang="en-US" altLang="ja-JP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UI</a:t>
            </a:r>
            <a:r>
              <a:rPr kumimoji="1" lang="ja-JP" altLang="en-US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に表示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521647F-0BE3-76B4-696C-3877CCD2D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174" y="1690688"/>
            <a:ext cx="5112067" cy="389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68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5193A86F-3067-D09F-B0CE-46482EAD1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00224"/>
            <a:ext cx="4581464" cy="357187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A9648592-AC3A-4905-7D50-32C738CAF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0224"/>
            <a:ext cx="4581464" cy="357187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E629969-6254-7737-54A2-97722840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今後の展開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E782BCFB-3122-EBEC-7167-11B9B1113D70}"/>
              </a:ext>
            </a:extLst>
          </p:cNvPr>
          <p:cNvGrpSpPr/>
          <p:nvPr/>
        </p:nvGrpSpPr>
        <p:grpSpPr>
          <a:xfrm>
            <a:off x="838199" y="1800225"/>
            <a:ext cx="9636268" cy="3571875"/>
            <a:chOff x="609600" y="1800225"/>
            <a:chExt cx="8265256" cy="3571875"/>
          </a:xfrm>
          <a:noFill/>
        </p:grpSpPr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C46E8FAF-72F0-88C0-AA5B-7E25DC962DB3}"/>
                </a:ext>
              </a:extLst>
            </p:cNvPr>
            <p:cNvSpPr/>
            <p:nvPr/>
          </p:nvSpPr>
          <p:spPr>
            <a:xfrm>
              <a:off x="609600" y="1800225"/>
              <a:ext cx="4019550" cy="35718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48C9C44-2AB0-515C-C7B2-BB968C9953F2}"/>
                </a:ext>
              </a:extLst>
            </p:cNvPr>
            <p:cNvSpPr txBox="1"/>
            <p:nvPr/>
          </p:nvSpPr>
          <p:spPr>
            <a:xfrm>
              <a:off x="5293456" y="2090172"/>
              <a:ext cx="3581400" cy="267765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ja-JP" sz="2800" dirty="0">
                  <a:solidFill>
                    <a:schemeClr val="accent1"/>
                  </a:solidFill>
                  <a:latin typeface="Noto Sans JP Medium" panose="020B0200000000000000" pitchFamily="50" charset="-128"/>
                  <a:ea typeface="Noto Sans JP Medium" panose="020B0200000000000000" pitchFamily="50" charset="-128"/>
                </a:rPr>
                <a:t>+α</a:t>
              </a:r>
            </a:p>
            <a:p>
              <a:endParaRPr lang="en-US" altLang="ja-JP" sz="2800" b="1" u="sng" dirty="0">
                <a:solidFill>
                  <a:schemeClr val="accent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ja-JP" altLang="en-US" sz="2800" dirty="0">
                  <a:latin typeface="Noto Sans JP Medium" panose="020B0200000000000000" pitchFamily="50" charset="-128"/>
                  <a:ea typeface="Noto Sans JP Medium" panose="020B0200000000000000" pitchFamily="50" charset="-128"/>
                </a:rPr>
                <a:t>混雑予測</a:t>
              </a:r>
              <a:endParaRPr lang="en-US" altLang="ja-JP" sz="2800" dirty="0">
                <a:latin typeface="Noto Sans JP Medium" panose="020B0200000000000000" pitchFamily="50" charset="-128"/>
                <a:ea typeface="Noto Sans JP Medium" panose="020B0200000000000000" pitchFamily="50" charset="-128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ja-JP" altLang="en-US" sz="2800" dirty="0">
                  <a:latin typeface="Noto Sans JP Medium" panose="020B0200000000000000" pitchFamily="50" charset="-128"/>
                  <a:ea typeface="Noto Sans JP Medium" panose="020B0200000000000000" pitchFamily="50" charset="-128"/>
                </a:rPr>
                <a:t>時間帯別分析</a:t>
              </a:r>
              <a:endParaRPr lang="en-US" altLang="ja-JP" sz="2800" dirty="0">
                <a:latin typeface="Noto Sans JP Medium" panose="020B0200000000000000" pitchFamily="50" charset="-128"/>
                <a:ea typeface="Noto Sans JP Medium" panose="020B0200000000000000" pitchFamily="50" charset="-128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ja-JP" altLang="en-US" sz="2800" dirty="0">
                  <a:latin typeface="Noto Sans JP Medium" panose="020B0200000000000000" pitchFamily="50" charset="-128"/>
                  <a:ea typeface="Noto Sans JP Medium" panose="020B0200000000000000" pitchFamily="50" charset="-128"/>
                </a:rPr>
                <a:t>緊急性の高い体調不良の人を検知</a:t>
              </a:r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1437A71-C17D-364E-FB9B-2A6AC31916B6}"/>
              </a:ext>
            </a:extLst>
          </p:cNvPr>
          <p:cNvSpPr txBox="1"/>
          <p:nvPr/>
        </p:nvSpPr>
        <p:spPr>
          <a:xfrm>
            <a:off x="1093613" y="2090172"/>
            <a:ext cx="4175470" cy="267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ja-JP" altLang="en-US" sz="2800" dirty="0">
                <a:solidFill>
                  <a:schemeClr val="accent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展開例</a:t>
            </a:r>
            <a:endParaRPr lang="en-US" altLang="ja-JP" sz="2800" dirty="0">
              <a:solidFill>
                <a:schemeClr val="accent1"/>
              </a:solidFill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0" indent="0">
              <a:buNone/>
            </a:pPr>
            <a:endParaRPr kumimoji="1" lang="en-US" altLang="ja-JP" sz="2800" b="1" u="sng" dirty="0">
              <a:solidFill>
                <a:schemeClr val="accent1"/>
              </a:solidFill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社員食堂</a:t>
            </a:r>
            <a:endParaRPr lang="en-US" altLang="ja-JP" sz="2800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2800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図書館・自習室</a:t>
            </a:r>
            <a:endParaRPr kumimoji="1" lang="en-US" altLang="ja-JP" sz="2800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イベント会場</a:t>
            </a:r>
            <a:endParaRPr lang="en-US" altLang="ja-JP" sz="2800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2800" dirty="0">
                <a:latin typeface="Noto Sans JP Medium" panose="020B0200000000000000" pitchFamily="50" charset="-128"/>
                <a:ea typeface="Noto Sans JP Medium" panose="020B0200000000000000" pitchFamily="50" charset="-128"/>
              </a:rPr>
              <a:t>待合スペース</a:t>
            </a:r>
            <a:endParaRPr kumimoji="1" lang="en-US" altLang="ja-JP" sz="2800" dirty="0">
              <a:latin typeface="Noto Sans JP Medium" panose="020B0200000000000000" pitchFamily="50" charset="-128"/>
              <a:ea typeface="Noto Sans JP Medium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4111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158</Words>
  <Application>Microsoft Office PowerPoint</Application>
  <PresentationFormat>ワイド画面</PresentationFormat>
  <Paragraphs>38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Noto Sans JP</vt:lpstr>
      <vt:lpstr>Noto Sans JP Black</vt:lpstr>
      <vt:lpstr>Noto Sans JP Medium</vt:lpstr>
      <vt:lpstr>游ゴシック</vt:lpstr>
      <vt:lpstr>游ゴシック Light</vt:lpstr>
      <vt:lpstr>Arial</vt:lpstr>
      <vt:lpstr>Office テーマ</vt:lpstr>
      <vt:lpstr>セマンティックカメラによる フードコート空席可視化システム</vt:lpstr>
      <vt:lpstr>フードコートの「混雑状況」はわかりづらい</vt:lpstr>
      <vt:lpstr>「混雑状況」をリアルタイムに「見える化」</vt:lpstr>
      <vt:lpstr>なぜセマンティックカメラなのか</vt:lpstr>
      <vt:lpstr>システム全体構成</vt:lpstr>
      <vt:lpstr>今後の展開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潮音 宮本</dc:creator>
  <cp:lastModifiedBy>潮音 宮本</cp:lastModifiedBy>
  <cp:revision>2</cp:revision>
  <dcterms:created xsi:type="dcterms:W3CDTF">2025-12-31T08:02:27Z</dcterms:created>
  <dcterms:modified xsi:type="dcterms:W3CDTF">2026-01-04T11:39:23Z</dcterms:modified>
</cp:coreProperties>
</file>